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02920"/>
            <a:ext cx="1330666" cy="9601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" y="1783080"/>
            <a:ext cx="457200" cy="279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96012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>
                <a:solidFill>
                  <a:srgbClr val="FFFFFF"/>
                </a:solidFill>
                <a:latin typeface="Playfair Display"/>
              </a:rPr>
              <a:t>Proposta para Jean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4000" b="1">
                <a:solidFill>
                  <a:srgbClr val="C9A24B"/>
                </a:solidFill>
                <a:latin typeface="Playfair Display"/>
              </a:rPr>
              <a:t>Mercado Malheiros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118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C9A24B"/>
                </a:solidFill>
                <a:latin typeface="Lora"/>
              </a:rPr>
              <a:t>VENDA TODO SANTO DIA, COM LEVEZA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69080"/>
            <a:ext cx="8046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B0A89A"/>
                </a:solidFill>
                <a:latin typeface="Lora"/>
              </a:rPr>
              <a:t>Sem depender apenas de quem já passa na porta ou dos grupos do bairro, que só alcançam quem já está por perto. Atraia mais clientes e fidelize esse público através dos seus próprios canais de comunicação.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9A24B"/>
                </a:solidFill>
                <a:latin typeface="Lora"/>
              </a:rPr>
              <a:t>QUEM VAI CONDUZIR ESSE TRABALHO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D0D0D"/>
                </a:solidFill>
                <a:latin typeface="Playfair Display"/>
              </a:rPr>
              <a:t>Amanda, fundadora da Recria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i="0">
                <a:solidFill>
                  <a:srgbClr val="3A3A3A"/>
                </a:solidFill>
                <a:latin typeface="Lora"/>
              </a:rPr>
              <a:t>Antes de falar de estratégia, um panorama rápido de onde essa visão vem.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6400800" cy="4206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C9A24B"/>
                </a:solidFill>
                <a:latin typeface="Lora"/>
              </a:rPr>
              <a:t>›  </a:t>
            </a:r>
            <a:r>
              <a:rPr sz="1250">
                <a:solidFill>
                  <a:srgbClr val="3A3A3A"/>
                </a:solidFill>
                <a:latin typeface="Lora"/>
              </a:rPr>
              <a:t>Engenheira bioquímica, com mestrado em biologia celular e molecular. Encontrou no marketing e nos dados a paixão de fazer negócios crescerem.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C9A24B"/>
                </a:solidFill>
                <a:latin typeface="Lora"/>
              </a:rPr>
              <a:t>›  </a:t>
            </a:r>
            <a:r>
              <a:rPr sz="1250">
                <a:solidFill>
                  <a:srgbClr val="3A3A3A"/>
                </a:solidFill>
                <a:latin typeface="Lora"/>
              </a:rPr>
              <a:t>Pós-graduação em Marketing Empresarial e para o Comércio.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C9A24B"/>
                </a:solidFill>
                <a:latin typeface="Lora"/>
              </a:rPr>
              <a:t>›  </a:t>
            </a:r>
            <a:r>
              <a:rPr sz="1250">
                <a:solidFill>
                  <a:srgbClr val="3A3A3A"/>
                </a:solidFill>
                <a:latin typeface="Lora"/>
              </a:rPr>
              <a:t>Mais de 11 anos de atuação no mercado, entre agências e negócios próprios.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C9A24B"/>
                </a:solidFill>
                <a:latin typeface="Lora"/>
              </a:rPr>
              <a:t>›  </a:t>
            </a:r>
            <a:r>
              <a:rPr sz="1250">
                <a:solidFill>
                  <a:srgbClr val="3A3A3A"/>
                </a:solidFill>
                <a:latin typeface="Lora"/>
              </a:rPr>
              <a:t>Já atuou com negócios locais, comércios, mercados, lojas e agropecuária, além de clínicas, coprodutoras, mentorias e consultorias, grandes redes farmacêuticas do RS, marcas de banheiras de luxo, moda e e-commerce.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C9A24B"/>
                </a:solidFill>
                <a:latin typeface="Lora"/>
              </a:rPr>
              <a:t>›  </a:t>
            </a:r>
            <a:r>
              <a:rPr sz="1250">
                <a:solidFill>
                  <a:srgbClr val="3A3A3A"/>
                </a:solidFill>
                <a:latin typeface="Lora"/>
              </a:rPr>
              <a:t>Passou por praticamente todas as frentes de marketing: estrategista, copywriter, designer, social media, social content, gestão de tráfego pago, audiovisual e roteirista de podcast.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C9A24B"/>
                </a:solidFill>
                <a:latin typeface="Lora"/>
              </a:rPr>
              <a:t>›  </a:t>
            </a:r>
            <a:r>
              <a:rPr sz="1250">
                <a:solidFill>
                  <a:srgbClr val="3A3A3A"/>
                </a:solidFill>
                <a:latin typeface="Lora"/>
              </a:rPr>
              <a:t>Professora universitária e palestrante em inteligência emocional e marketing.</a:t>
            </a:r>
          </a:p>
          <a:p>
            <a:pPr>
              <a:lnSpc>
                <a:spcPct val="115000"/>
              </a:lnSpc>
              <a:spcAft>
                <a:spcPts val="900"/>
              </a:spcAft>
            </a:pPr>
            <a:r>
              <a:rPr sz="1250" b="1">
                <a:solidFill>
                  <a:srgbClr val="C9A24B"/>
                </a:solidFill>
                <a:latin typeface="Lora"/>
              </a:rPr>
              <a:t>›  </a:t>
            </a:r>
            <a:r>
              <a:rPr sz="1250">
                <a:solidFill>
                  <a:srgbClr val="3A3A3A"/>
                </a:solidFill>
                <a:latin typeface="Lora"/>
              </a:rPr>
              <a:t>Fundadora da Recria desde 2024, inicialmente com foco em consultoria. A agência foi crescendo, e desde o ano passado está cem por cento dedicada a ela e a um negócio próprio de yoga online.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52360" y="1874519"/>
            <a:ext cx="4069080" cy="3977639"/>
          </a:xfrm>
          <a:prstGeom prst="rect">
            <a:avLst/>
          </a:prstGeom>
          <a:solidFill>
            <a:srgbClr val="F7F5EF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80" y="2103119"/>
            <a:ext cx="3520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 i="0">
                <a:solidFill>
                  <a:srgbClr val="0D0D0D"/>
                </a:solidFill>
                <a:latin typeface="Playfair Display"/>
              </a:rPr>
              <a:t>Alguns resultados já construídos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80" y="2606039"/>
            <a:ext cx="3520440" cy="29717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200" b="0">
                <a:solidFill>
                  <a:srgbClr val="3A3A3A"/>
                </a:solidFill>
                <a:latin typeface="Lora"/>
              </a:rPr>
              <a:t>Nicho de portas de enrolar: saiu de R$ 10 mil para R$ 1 a 2 milhões de faturamento por mês em cerca de um ano e meio.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200" b="0">
                <a:solidFill>
                  <a:srgbClr val="3A3A3A"/>
                </a:solidFill>
                <a:latin typeface="Lora"/>
              </a:rPr>
              <a:t>Banheiras de luxo: expansão de repertório do Brasil para o Chile.</a:t>
            </a:r>
          </a:p>
          <a:p>
            <a:pPr algn="l">
              <a:lnSpc>
                <a:spcPct val="125000"/>
              </a:lnSpc>
              <a:spcAft>
                <a:spcPts val="1400"/>
              </a:spcAft>
            </a:pPr>
            <a:r>
              <a:rPr sz="1200" b="0">
                <a:solidFill>
                  <a:srgbClr val="3A3A3A"/>
                </a:solidFill>
                <a:latin typeface="Lora"/>
              </a:rPr>
              <a:t>E-commerce: reativação da base existente, sem tráfego pago. R$ 200 mil no 1º mês, R$ 400 mil no 2º, R$ 500 mil no 3º, em expansão contínua.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7220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1">
                <a:solidFill>
                  <a:srgbClr val="5A5A5A"/>
                </a:solidFill>
                <a:latin typeface="Lora"/>
              </a:rPr>
              <a:t>Esse é o repertório que chega até o Mercado Malheiros: visão de negócio, estratégia, comunicação e execução, tudo em uma pessoa só.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9A24B"/>
                </a:solidFill>
                <a:latin typeface="Lora"/>
              </a:rPr>
              <a:t>DADOS DE MERCADO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D0D0D"/>
                </a:solidFill>
                <a:latin typeface="Playfair Display"/>
              </a:rPr>
              <a:t>Por que isso importa agora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087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3A3A3A"/>
                </a:solidFill>
                <a:latin typeface="Lora"/>
              </a:rPr>
              <a:t>O setor supermercadista é uma das forças mais estáveis da economia brasileira, e a comunicação digital deixou de ser exclusividade das grandes redes.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5074920" cy="1600200"/>
          </a:xfrm>
          <a:prstGeom prst="rect">
            <a:avLst/>
          </a:prstGeom>
          <a:solidFill>
            <a:srgbClr val="F7F5E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514600"/>
            <a:ext cx="4526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C9A24B"/>
                </a:solidFill>
                <a:latin typeface="Playfair Display"/>
              </a:rPr>
              <a:t>R$ 1,145 tri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00400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5A5A"/>
                </a:solidFill>
                <a:latin typeface="Lora"/>
              </a:rPr>
              <a:t>faturamento do setor supermercadista no Brasil em 2025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2331720"/>
            <a:ext cx="5074920" cy="1600200"/>
          </a:xfrm>
          <a:prstGeom prst="rect">
            <a:avLst/>
          </a:prstGeom>
          <a:solidFill>
            <a:srgbClr val="F7F5E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514600"/>
            <a:ext cx="4526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C9A24B"/>
                </a:solidFill>
                <a:latin typeface="Playfair Display"/>
              </a:rPr>
              <a:t>424 mil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200400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5A5A"/>
                </a:solidFill>
                <a:latin typeface="Lora"/>
              </a:rPr>
              <a:t>lojas em operação no país, a grande maioria de pequeno e médio porte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251960"/>
            <a:ext cx="5074920" cy="1600200"/>
          </a:xfrm>
          <a:prstGeom prst="rect">
            <a:avLst/>
          </a:prstGeom>
          <a:solidFill>
            <a:srgbClr val="F7F5E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434840"/>
            <a:ext cx="4526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C9A24B"/>
                </a:solidFill>
                <a:latin typeface="Playfair Display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120640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5A5A"/>
                </a:solidFill>
                <a:latin typeface="Lora"/>
              </a:rPr>
              <a:t>das pequenas empresas brasileiras já vendem por algum canal digital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4251960"/>
            <a:ext cx="5074920" cy="1600200"/>
          </a:xfrm>
          <a:prstGeom prst="rect">
            <a:avLst/>
          </a:prstGeom>
          <a:solidFill>
            <a:srgbClr val="F7F5E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434840"/>
            <a:ext cx="4526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C9A24B"/>
                </a:solidFill>
                <a:latin typeface="Playfair Display"/>
              </a:rPr>
              <a:t>89%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5120640"/>
            <a:ext cx="4526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5A5A"/>
                </a:solidFill>
                <a:latin typeface="Lora"/>
              </a:rPr>
              <a:t>dos brasileiros já usam o WhatsApp para falar com o comércio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1">
                <a:solidFill>
                  <a:srgbClr val="5A5A5A"/>
                </a:solidFill>
                <a:latin typeface="Lora"/>
              </a:rPr>
              <a:t>Fontes: Ranking ABRAS 2026 (parceria NielsenIQ); pesquisas Sebrae sobre transformação digital em pequenos negócios.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9A24B"/>
                </a:solidFill>
                <a:latin typeface="Lora"/>
              </a:rPr>
              <a:t>ONDE VOCÊ ESTÁ AGORA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D0D0D"/>
                </a:solidFill>
                <a:latin typeface="Playfair Display"/>
              </a:rPr>
              <a:t>Do mercado de bairro à rede grande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3429000" cy="2880360"/>
          </a:xfrm>
          <a:prstGeom prst="rect">
            <a:avLst/>
          </a:prstGeom>
          <a:solidFill>
            <a:srgbClr val="F2E8CC"/>
          </a:solidFill>
          <a:ln w="19050">
            <a:solidFill>
              <a:srgbClr val="C9A2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1965960"/>
            <a:ext cx="1828800" cy="2926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8424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 i="0">
                <a:solidFill>
                  <a:srgbClr val="0D0D0D"/>
                </a:solidFill>
                <a:latin typeface="Lora"/>
              </a:rPr>
              <a:t>VOCÊ ESTÁ AQUI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231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D0D0D"/>
                </a:solidFill>
                <a:latin typeface="Playfair Display"/>
              </a:rPr>
              <a:t>Mercado de bairro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2880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A3A3A"/>
                </a:solidFill>
                <a:latin typeface="Lora"/>
              </a:rPr>
              <a:t>Google Meu Negócio, sem rotina de oferta programada. Ponto forte natural: a confiança de vizinhança, que já existe.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691640"/>
            <a:ext cx="34290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9659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D0D0D"/>
                </a:solidFill>
                <a:latin typeface="Playfair Display"/>
              </a:rPr>
              <a:t>Próximo degrau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468880"/>
            <a:ext cx="2880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A3A3A"/>
                </a:solidFill>
                <a:latin typeface="Lora"/>
              </a:rPr>
              <a:t>Instagram com feed de ofertas, grupo de WhatsApp ativo, ritmo de comunicação semanal. É exatamente o que esta proposta entrega.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691640"/>
            <a:ext cx="34290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965960"/>
            <a:ext cx="2880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50" b="1" i="0">
                <a:solidFill>
                  <a:srgbClr val="0D0D0D"/>
                </a:solidFill>
                <a:latin typeface="Playfair Display"/>
              </a:rPr>
              <a:t>Rede grande (ex: Zaffari)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468880"/>
            <a:ext cx="2880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3A3A3A"/>
                </a:solidFill>
                <a:latin typeface="Lora"/>
              </a:rPr>
              <a:t>Cartão fidelidade, app próprio, pagamento digital, campanhas segmentadas. Não é o alvo agora, mas mostra até onde o caminho pode chegar.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892040"/>
            <a:ext cx="10881360" cy="91440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892040"/>
            <a:ext cx="50800" cy="91440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056632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0D0D0D"/>
                </a:solidFill>
                <a:latin typeface="Lora"/>
              </a:rPr>
              <a:t>Ninguém mais na região está ocupando esse próximo degrau ainda. Quem sair na frente, fideliza primeiro.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9A24B"/>
                </a:solidFill>
                <a:latin typeface="Lora"/>
              </a:rPr>
              <a:t>CENÁRIO LOCAL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0D0D0D"/>
                </a:solidFill>
                <a:latin typeface="Playfair Display"/>
              </a:rPr>
              <a:t>O que o concorrente mais próximo já está (e não está) fazendo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65960"/>
            <a:ext cx="1088136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C9A24B"/>
                </a:solidFill>
                <a:latin typeface="Lora"/>
              </a:rPr>
              <a:t>›  </a:t>
            </a:r>
            <a:r>
              <a:rPr sz="1500">
                <a:solidFill>
                  <a:srgbClr val="3A3A3A"/>
                </a:solidFill>
                <a:latin typeface="Lora"/>
              </a:rPr>
              <a:t>Tem Instagram ativo, com mais de mil seguidores e boa reputação no Google.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C9A24B"/>
                </a:solidFill>
                <a:latin typeface="Lora"/>
              </a:rPr>
              <a:t>›  </a:t>
            </a:r>
            <a:r>
              <a:rPr sz="1500">
                <a:solidFill>
                  <a:srgbClr val="3A3A3A"/>
                </a:solidFill>
                <a:latin typeface="Lora"/>
              </a:rPr>
              <a:t>Mas a comunicação é só oferta direta, sem construir desejo nem mostrar o dia a dia da loja ou da equipe.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C9A24B"/>
                </a:solidFill>
                <a:latin typeface="Lora"/>
              </a:rPr>
              <a:t>›  </a:t>
            </a:r>
            <a:r>
              <a:rPr sz="1500">
                <a:solidFill>
                  <a:srgbClr val="3A3A3A"/>
                </a:solidFill>
                <a:latin typeface="Lora"/>
              </a:rPr>
              <a:t>Não tem site, não tem grupo de ofertas, não tem lista de transmissão estruturada.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C9A24B"/>
                </a:solidFill>
                <a:latin typeface="Lora"/>
              </a:rPr>
              <a:t>›  </a:t>
            </a:r>
            <a:r>
              <a:rPr sz="1500">
                <a:solidFill>
                  <a:srgbClr val="3A3A3A"/>
                </a:solidFill>
                <a:latin typeface="Lora"/>
              </a:rPr>
              <a:t>O link da bio leva só para pedir entrega. Toda a audiência de mais de mil seguidores não vira relacionamento recorrente.</a:t>
            </a:r>
          </a:p>
          <a:p>
            <a:pPr>
              <a:lnSpc>
                <a:spcPct val="115000"/>
              </a:lnSpc>
              <a:spcAft>
                <a:spcPts val="1600"/>
              </a:spcAft>
            </a:pPr>
            <a:r>
              <a:rPr sz="1500" b="1">
                <a:solidFill>
                  <a:srgbClr val="C9A24B"/>
                </a:solidFill>
                <a:latin typeface="Lora"/>
              </a:rPr>
              <a:t>›  </a:t>
            </a:r>
            <a:r>
              <a:rPr sz="1500">
                <a:solidFill>
                  <a:srgbClr val="3A3A3A"/>
                </a:solidFill>
                <a:latin typeface="Lora"/>
              </a:rPr>
              <a:t>Não roda nenhum anúncio pago, nem no Instagram/Facebook nem no Google.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257800"/>
            <a:ext cx="10881360" cy="105156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5257800"/>
            <a:ext cx="50800" cy="105156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 i="0">
                <a:solidFill>
                  <a:srgbClr val="0D0D0D"/>
                </a:solidFill>
                <a:latin typeface="Lora"/>
              </a:rPr>
              <a:t>Existe uma audiência grande sem estratégia de relacionamento por trás. É uma brecha aberta, e ela não vai continuar aberta para sempre.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9A24B"/>
                </a:solidFill>
                <a:latin typeface="Lora"/>
              </a:rPr>
              <a:t>ONDE O MERCADO MALHEIROS JÁ ESTÁ BEM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D0D0D"/>
                </a:solidFill>
                <a:latin typeface="Playfair Display"/>
              </a:rPr>
              <a:t>Você não parte atrás nesse ponto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257800" cy="1371600"/>
          </a:xfrm>
          <a:prstGeom prst="rect">
            <a:avLst/>
          </a:prstGeom>
          <a:solidFill>
            <a:srgbClr val="F7F5E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5623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C9A24B"/>
                </a:solidFill>
                <a:latin typeface="Playfair Display"/>
              </a:rPr>
              <a:t>4,3 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5A5A"/>
                </a:solidFill>
                <a:latin typeface="Lora"/>
              </a:rPr>
              <a:t>nota no Google Meu Negócio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691640"/>
            <a:ext cx="5257800" cy="1371600"/>
          </a:xfrm>
          <a:prstGeom prst="rect">
            <a:avLst/>
          </a:prstGeom>
          <a:solidFill>
            <a:srgbClr val="F7F5E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856232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C9A24B"/>
                </a:solidFill>
                <a:latin typeface="Playfair Display"/>
              </a:rPr>
              <a:t>421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468880"/>
            <a:ext cx="4709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A5A5A"/>
                </a:solidFill>
                <a:latin typeface="Lora"/>
              </a:rPr>
              <a:t>avaliações, praticamente no mesmo nível do maior concorrente da região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832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3A3A3A"/>
                </a:solidFill>
                <a:latin typeface="Lora"/>
              </a:rPr>
              <a:t>Isso é reputação construída em anos reais de atendimento. Com uma estrutura digital montada, essa confiança vira clientes fiéis e recorrentes, que recomendam o mercado e voltam mais vezes por causa das ofertas e das novidades, algo que nem o concorrente mais próximo aqui do bairro está fazendo.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4572000"/>
            <a:ext cx="10881360" cy="1691640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4572000"/>
            <a:ext cx="50800" cy="1691640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773168"/>
            <a:ext cx="1033272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0D0D0D"/>
                </a:solidFill>
                <a:latin typeface="Lora"/>
              </a:rPr>
              <a:t>Hoje a comunicação é reativa: só acontece quando o cliente vem até você. A proposta soma o lado proativo: incentivar a vinda com mais frequência, aumentar o ticket médio de quem já compra, e conquistar clientes novos que entram nesse mesmo ciclo. Uma bola de neve positiva.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9A24B"/>
                </a:solidFill>
                <a:latin typeface="Lora"/>
              </a:rPr>
              <a:t>ESTRATÉGIA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500" b="1" i="0">
                <a:solidFill>
                  <a:srgbClr val="0D0D0D"/>
                </a:solidFill>
                <a:latin typeface="Playfair Display"/>
              </a:rPr>
              <a:t>Grupo de ofertas no WhatsApp, um ritmo por 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3A3A3A"/>
                </a:solidFill>
                <a:latin typeface="Lora"/>
              </a:rPr>
              <a:t>Um calendário fixo cria expectativa: o cliente sabe que, naquele dia, vale a pena olhar a oferta.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31720"/>
            <a:ext cx="3502152" cy="1508760"/>
          </a:xfrm>
          <a:prstGeom prst="rect">
            <a:avLst/>
          </a:prstGeom>
          <a:solidFill>
            <a:srgbClr val="F7F5E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514600"/>
            <a:ext cx="3044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4B"/>
                </a:solidFill>
                <a:latin typeface="Playfair Display"/>
              </a:rPr>
              <a:t>SEGUNDA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98648"/>
            <a:ext cx="3044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A3A3A"/>
                </a:solidFill>
                <a:latin typeface="Lora"/>
              </a:rPr>
              <a:t>Hortifruti da semana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8264" y="2331720"/>
            <a:ext cx="3502152" cy="1508760"/>
          </a:xfrm>
          <a:prstGeom prst="rect">
            <a:avLst/>
          </a:prstGeom>
          <a:solidFill>
            <a:srgbClr val="F7F5E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6864" y="2514600"/>
            <a:ext cx="3044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4B"/>
                </a:solidFill>
                <a:latin typeface="Playfair Display"/>
              </a:rPr>
              <a:t>TERÇA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6864" y="2898648"/>
            <a:ext cx="3044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A3A3A"/>
                </a:solidFill>
                <a:latin typeface="Lora"/>
              </a:rPr>
              <a:t>Açougue, corte da semana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56448" y="2331720"/>
            <a:ext cx="3502152" cy="1508760"/>
          </a:xfrm>
          <a:prstGeom prst="rect">
            <a:avLst/>
          </a:prstGeom>
          <a:solidFill>
            <a:srgbClr val="F7F5E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85048" y="2514600"/>
            <a:ext cx="3044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4B"/>
                </a:solidFill>
                <a:latin typeface="Playfair Display"/>
              </a:rPr>
              <a:t>QUARTA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5048" y="2898648"/>
            <a:ext cx="3044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A3A3A"/>
                </a:solidFill>
                <a:latin typeface="Lora"/>
              </a:rPr>
              <a:t>Padaria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096512"/>
            <a:ext cx="3502152" cy="1508760"/>
          </a:xfrm>
          <a:prstGeom prst="rect">
            <a:avLst/>
          </a:prstGeom>
          <a:solidFill>
            <a:srgbClr val="F7F5E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79392"/>
            <a:ext cx="3044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4B"/>
                </a:solidFill>
                <a:latin typeface="Playfair Display"/>
              </a:rPr>
              <a:t>QUINTA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63440"/>
            <a:ext cx="3044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A3A3A"/>
                </a:solidFill>
                <a:latin typeface="Lora"/>
              </a:rPr>
              <a:t>Mercearia (arroz, feijão, óleo, itens de despensa)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98264" y="4096512"/>
            <a:ext cx="3502152" cy="1508760"/>
          </a:xfrm>
          <a:prstGeom prst="rect">
            <a:avLst/>
          </a:prstGeom>
          <a:solidFill>
            <a:srgbClr val="F7F5E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4279392"/>
            <a:ext cx="3044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4B"/>
                </a:solidFill>
                <a:latin typeface="Playfair Display"/>
              </a:rPr>
              <a:t>SEXTA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26864" y="4663440"/>
            <a:ext cx="3044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A3A3A"/>
                </a:solidFill>
                <a:latin typeface="Lora"/>
              </a:rPr>
              <a:t>Combo de fim de semana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56448" y="4096512"/>
            <a:ext cx="3502152" cy="1508760"/>
          </a:xfrm>
          <a:prstGeom prst="rect">
            <a:avLst/>
          </a:prstGeom>
          <a:solidFill>
            <a:srgbClr val="F7F5E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5048" y="4279392"/>
            <a:ext cx="30449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 i="0">
                <a:solidFill>
                  <a:srgbClr val="C9A24B"/>
                </a:solidFill>
                <a:latin typeface="Playfair Display"/>
              </a:rPr>
              <a:t>SÁBADO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5048" y="4663440"/>
            <a:ext cx="304495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3A3A3A"/>
                </a:solidFill>
                <a:latin typeface="Lora"/>
              </a:rPr>
              <a:t>Lançamento ou oferta relâmpago, alternando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9A24B"/>
                </a:solidFill>
                <a:latin typeface="Lora"/>
              </a:rPr>
              <a:t>INVESTIMENTO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i="0">
                <a:solidFill>
                  <a:srgbClr val="0D0D0D"/>
                </a:solidFill>
                <a:latin typeface="Playfair Display"/>
              </a:rPr>
              <a:t>Planos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00200"/>
            <a:ext cx="5257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74520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D0D0D"/>
                </a:solidFill>
                <a:latin typeface="Playfair Display"/>
              </a:rPr>
              <a:t>Plano Tráfego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77440"/>
            <a:ext cx="4617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C9A24B"/>
                </a:solidFill>
                <a:latin typeface="Lora"/>
              </a:rPr>
              <a:t>›  </a:t>
            </a:r>
            <a:r>
              <a:rPr sz="1250">
                <a:solidFill>
                  <a:srgbClr val="3A3A3A"/>
                </a:solidFill>
                <a:latin typeface="Lora"/>
              </a:rPr>
              <a:t>Gestão de tráfego pago no Instagram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C9A24B"/>
                </a:solidFill>
                <a:latin typeface="Lora"/>
              </a:rPr>
              <a:t>›  </a:t>
            </a:r>
            <a:r>
              <a:rPr sz="1250">
                <a:solidFill>
                  <a:srgbClr val="3A3A3A"/>
                </a:solidFill>
                <a:latin typeface="Lora"/>
              </a:rPr>
              <a:t>Condução direta para o grupo de ofertas no WhatsApp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960120" y="5029200"/>
            <a:ext cx="4617720" cy="12700"/>
          </a:xfrm>
          <a:prstGeom prst="rect">
            <a:avLst/>
          </a:prstGeom>
          <a:solidFill>
            <a:srgbClr val="E6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513892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5A5A"/>
                </a:solidFill>
                <a:latin typeface="Lora"/>
              </a:rPr>
              <a:t>A PARTIR 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376672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0D0D0D"/>
                </a:solidFill>
                <a:latin typeface="Playfair Display"/>
              </a:rPr>
              <a:t>R$ 1.000/mês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5431536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5A5A5A"/>
                </a:solidFill>
                <a:latin typeface="Lora"/>
              </a:rPr>
              <a:t>+ verba de anúncio, investida por você na plataforma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2578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74520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D0D0D"/>
                </a:solidFill>
                <a:latin typeface="Playfair Display"/>
              </a:rPr>
              <a:t>Plano Estrutura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377440"/>
            <a:ext cx="4617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C9A24B"/>
                </a:solidFill>
                <a:latin typeface="Lora"/>
              </a:rPr>
              <a:t>›  </a:t>
            </a:r>
            <a:r>
              <a:rPr sz="1250">
                <a:solidFill>
                  <a:srgbClr val="3A3A3A"/>
                </a:solidFill>
                <a:latin typeface="Lora"/>
              </a:rPr>
              <a:t>Tudo do Plano Tráfego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C9A24B"/>
                </a:solidFill>
                <a:latin typeface="Lora"/>
              </a:rPr>
              <a:t>›  </a:t>
            </a:r>
            <a:r>
              <a:rPr sz="1250">
                <a:solidFill>
                  <a:srgbClr val="3A3A3A"/>
                </a:solidFill>
                <a:latin typeface="Lora"/>
              </a:rPr>
              <a:t>Criação de site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50" b="1">
                <a:solidFill>
                  <a:srgbClr val="C9A24B"/>
                </a:solidFill>
                <a:latin typeface="Lora"/>
              </a:rPr>
              <a:t>›  </a:t>
            </a:r>
            <a:r>
              <a:rPr sz="1250">
                <a:solidFill>
                  <a:srgbClr val="3A3A3A"/>
                </a:solidFill>
                <a:latin typeface="Lora"/>
              </a:rPr>
              <a:t>Automação de atendimento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0" y="5029200"/>
            <a:ext cx="4617720" cy="12700"/>
          </a:xfrm>
          <a:prstGeom prst="rect">
            <a:avLst/>
          </a:prstGeom>
          <a:solidFill>
            <a:srgbClr val="E6E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138928"/>
            <a:ext cx="4617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A5A5A"/>
                </a:solidFill>
                <a:latin typeface="Lora"/>
              </a:rPr>
              <a:t>A PARTIR 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376672"/>
            <a:ext cx="46177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i="0">
                <a:solidFill>
                  <a:srgbClr val="0D0D0D"/>
                </a:solidFill>
                <a:latin typeface="Playfair Display"/>
              </a:rPr>
              <a:t>R$ 1.500/mês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5431536"/>
            <a:ext cx="3337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1">
                <a:solidFill>
                  <a:srgbClr val="5A5A5A"/>
                </a:solidFill>
                <a:latin typeface="Lora"/>
              </a:rPr>
              <a:t>+ verba de anúncio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807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5A5A5A"/>
                </a:solidFill>
                <a:latin typeface="Lora"/>
              </a:rPr>
              <a:t>A verba de anúncio é o valor investido diretamente na plataforma (Instagram/Meta ou Google). Não é pago para a Recria, é o combustível que faz o anúncio rodar.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9A24B"/>
                </a:solidFill>
                <a:latin typeface="Lora"/>
              </a:rPr>
              <a:t>INVESTIMENTO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D0D0D"/>
                </a:solidFill>
                <a:latin typeface="Playfair Display"/>
              </a:rPr>
              <a:t>Plano Completo</a:t>
            </a:r>
          </a:p>
        </p:txBody>
      </p:sp>
      <p:sp>
        <p:nvSpPr>
          <p:cNvPr id="4" name="Rectangle 3"/>
          <p:cNvSpPr/>
          <p:nvPr/>
        </p:nvSpPr>
        <p:spPr>
          <a:xfrm>
            <a:off x="9052560" y="777240"/>
            <a:ext cx="1828800" cy="329184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52560" y="822960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1" i="0">
                <a:solidFill>
                  <a:srgbClr val="0D0D0D"/>
                </a:solidFill>
                <a:latin typeface="Lora"/>
              </a:rPr>
              <a:t>RECOMENDADO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1">
                <a:solidFill>
                  <a:srgbClr val="5A5A5A"/>
                </a:solidFill>
                <a:latin typeface="Lora"/>
              </a:rPr>
              <a:t>Um plano de marketing completo para negócio local: design, social media, gestão de tráfego, audiovisual, estratégia e desenvolvimento web. Seis frentes de trabalho em uma única entrega, com mais de 11 anos de experiência por trás.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1088136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C9A24B"/>
                </a:solidFill>
                <a:latin typeface="Lora"/>
              </a:rPr>
              <a:t>›  </a:t>
            </a:r>
            <a:r>
              <a:rPr sz="1200">
                <a:solidFill>
                  <a:srgbClr val="3A3A3A"/>
                </a:solidFill>
                <a:latin typeface="Lora"/>
              </a:rPr>
              <a:t>Site, automação e grupo de ofertas no WhatsApp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C9A24B"/>
                </a:solidFill>
                <a:latin typeface="Lora"/>
              </a:rPr>
              <a:t>›  </a:t>
            </a:r>
            <a:r>
              <a:rPr sz="1200">
                <a:solidFill>
                  <a:srgbClr val="3A3A3A"/>
                </a:solidFill>
                <a:latin typeface="Lora"/>
              </a:rPr>
              <a:t>Sessão de fotos da equipe e da loja a cada dois meses (celular, boa iluminação, microfone quando necessário), usada como base de conteúdo com apoio de edição e IA. O objetivo é gerar desejo de visitar o mercado, não só documentar a equipe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C9A24B"/>
                </a:solidFill>
                <a:latin typeface="Lora"/>
              </a:rPr>
              <a:t>›  </a:t>
            </a:r>
            <a:r>
              <a:rPr sz="1200">
                <a:solidFill>
                  <a:srgbClr val="3A3A3A"/>
                </a:solidFill>
                <a:latin typeface="Lora"/>
              </a:rPr>
              <a:t>Design de materiais impressos (a arte é entregue pronta para levar a uma gráfica; a impressão não está incluída)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C9A24B"/>
                </a:solidFill>
                <a:latin typeface="Lora"/>
              </a:rPr>
              <a:t>›  </a:t>
            </a:r>
            <a:r>
              <a:rPr sz="1200">
                <a:solidFill>
                  <a:srgbClr val="3A3A3A"/>
                </a:solidFill>
                <a:latin typeface="Lora"/>
              </a:rPr>
              <a:t>Quando fizer sentido, treinamento comercial com a equipe: gatilhos mentais para incentivar a vinda no dia da oferta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200" b="1">
                <a:solidFill>
                  <a:srgbClr val="C9A24B"/>
                </a:solidFill>
                <a:latin typeface="Lora"/>
              </a:rPr>
              <a:t>›  </a:t>
            </a:r>
            <a:r>
              <a:rPr sz="1200">
                <a:solidFill>
                  <a:srgbClr val="3A3A3A"/>
                </a:solidFill>
                <a:latin typeface="Lora"/>
              </a:rPr>
              <a:t>Tráfego pago a partir do segundo mês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4343400"/>
            <a:ext cx="10881360" cy="658368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4416552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D0D0D"/>
                </a:solidFill>
                <a:latin typeface="Lora"/>
              </a:rPr>
              <a:t>Mês 1, R$ 2.000: arrumar a casa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672584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A3A3A"/>
                </a:solidFill>
                <a:latin typeface="Lora"/>
              </a:rPr>
              <a:t>Site, automação, Instagram e grupo do WhatsApp no ar, divulgação orgânica nos canais que você já tem. As vendas já sobem nesse mês; o anúncio espera porque rodar ao mesmo tempo levaria gente para uma estrutura incompleta.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11496"/>
            <a:ext cx="10881360" cy="658368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84648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D0D0D"/>
                </a:solidFill>
                <a:latin typeface="Lora"/>
              </a:rPr>
              <a:t>A partir do mês 2, R$ 2.000 de gestão + verba de anúncio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A3A3A"/>
                </a:solidFill>
                <a:latin typeface="Lora"/>
              </a:rPr>
              <a:t>Início do tráfego pago, já com site, Instagram e equipe prontos para receber esse público novo.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879592"/>
            <a:ext cx="10881360" cy="658368"/>
          </a:xfrm>
          <a:prstGeom prst="rect">
            <a:avLst/>
          </a:prstGeom>
          <a:solidFill>
            <a:srgbClr val="F7F5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952744"/>
            <a:ext cx="104241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 i="0">
                <a:solidFill>
                  <a:srgbClr val="0D0D0D"/>
                </a:solidFill>
                <a:latin typeface="Lora"/>
              </a:rPr>
              <a:t>Prefere tudo já no mês 1?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6208776"/>
            <a:ext cx="10424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3A3A3A"/>
                </a:solidFill>
                <a:latin typeface="Lora"/>
              </a:rPr>
              <a:t>Estrutura e tráfego pago rodando juntos desde o início: mês 1 passa a R$ 4.000, e a partir do mês 2 volta para R$ 2.000 + verba.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C9A24B"/>
                </a:solidFill>
                <a:latin typeface="Lora"/>
              </a:rPr>
              <a:t>COMO VAMOS TRABALHAR JUNTOS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700" b="1" i="0">
                <a:solidFill>
                  <a:srgbClr val="0D0D0D"/>
                </a:solidFill>
                <a:latin typeface="Playfair Display"/>
              </a:rPr>
              <a:t>Contato próximo, sem burocracia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8813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400" b="1">
                <a:solidFill>
                  <a:srgbClr val="C9A24B"/>
                </a:solidFill>
                <a:latin typeface="Lora"/>
              </a:rPr>
              <a:t>›  </a:t>
            </a:r>
            <a:r>
              <a:rPr sz="1400">
                <a:solidFill>
                  <a:srgbClr val="3A3A3A"/>
                </a:solidFill>
                <a:latin typeface="Lora"/>
              </a:rPr>
              <a:t>Uma reunião por mês, online ou presencial, da forma que você preferir.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400" b="1">
                <a:solidFill>
                  <a:srgbClr val="C9A24B"/>
                </a:solidFill>
                <a:latin typeface="Lora"/>
              </a:rPr>
              <a:t>›  </a:t>
            </a:r>
            <a:r>
              <a:rPr sz="1400">
                <a:solidFill>
                  <a:srgbClr val="3A3A3A"/>
                </a:solidFill>
                <a:latin typeface="Lora"/>
              </a:rPr>
              <a:t>Depois de cada reunião, envio a ata com os próximos passos: minhas responsabilidades e as suas, porque é um trabalho a quatro mãos.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400" b="1">
                <a:solidFill>
                  <a:srgbClr val="C9A24B"/>
                </a:solidFill>
                <a:latin typeface="Lora"/>
              </a:rPr>
              <a:t>›  </a:t>
            </a:r>
            <a:r>
              <a:rPr sz="1400">
                <a:solidFill>
                  <a:srgbClr val="3A3A3A"/>
                </a:solidFill>
                <a:latin typeface="Lora"/>
              </a:rPr>
              <a:t>Contato direto no grupo de WhatsApp de trabalho para o dia a dia.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400" b="1">
                <a:solidFill>
                  <a:srgbClr val="C9A24B"/>
                </a:solidFill>
                <a:latin typeface="Lora"/>
              </a:rPr>
              <a:t>›  </a:t>
            </a:r>
            <a:r>
              <a:rPr sz="1400">
                <a:solidFill>
                  <a:srgbClr val="3A3A3A"/>
                </a:solidFill>
                <a:latin typeface="Lora"/>
              </a:rPr>
              <a:t>Testamos, medimos e recalculamos a rota: o que funciona, expandimos; o que não funciona, ajustamos. Tráfego pago não é ciência exata, é teste constante, porque lidamos com pessoas.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400" b="1">
                <a:solidFill>
                  <a:srgbClr val="C9A24B"/>
                </a:solidFill>
                <a:latin typeface="Lora"/>
              </a:rPr>
              <a:t>›  </a:t>
            </a:r>
            <a:r>
              <a:rPr sz="1400">
                <a:solidFill>
                  <a:srgbClr val="3A3A3A"/>
                </a:solidFill>
                <a:latin typeface="Lora"/>
              </a:rPr>
              <a:t>Pagamento da gestão combinado na melhor data do mês, direto via Pix para a minha conta.</a:t>
            </a:r>
          </a:p>
          <a:p>
            <a:pPr>
              <a:lnSpc>
                <a:spcPct val="115000"/>
              </a:lnSpc>
              <a:spcAft>
                <a:spcPts val="1800"/>
              </a:spcAft>
            </a:pPr>
            <a:r>
              <a:rPr sz="1400" b="1">
                <a:solidFill>
                  <a:srgbClr val="C9A24B"/>
                </a:solidFill>
                <a:latin typeface="Lora"/>
              </a:rPr>
              <a:t>›  </a:t>
            </a:r>
            <a:r>
              <a:rPr sz="1400">
                <a:solidFill>
                  <a:srgbClr val="3A3A3A"/>
                </a:solidFill>
                <a:latin typeface="Lora"/>
              </a:rPr>
              <a:t>Contrato recomendado de 3 meses a 1 ano: os primeiros resultados já aparecem a partir dos 3 meses. Pode cancelar quando quiser, com aviso prévio de 30 dias (mais um mês de trabalho), ou encerrar de imediato pagando o mês equivalente ao aviso.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28600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200" b="0" i="0">
                <a:solidFill>
                  <a:srgbClr val="C9A24B"/>
                </a:solidFill>
                <a:latin typeface="Lora"/>
              </a:rPr>
              <a:t>PRÓXIMO PASSO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697480"/>
            <a:ext cx="108813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1" i="0">
                <a:solidFill>
                  <a:srgbClr val="FFFFFF"/>
                </a:solidFill>
                <a:latin typeface="Playfair Display"/>
              </a:rPr>
              <a:t>Vamos ampliar os clientes do Mercado Malheiros?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520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0" i="0">
                <a:solidFill>
                  <a:srgbClr val="B0A89A"/>
                </a:solidFill>
                <a:latin typeface="Lora"/>
              </a:rPr>
              <a:t>O momento é agora: nenhum concorrente da região ocupou esse espaço ainda.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700" b="1" i="0">
                <a:solidFill>
                  <a:srgbClr val="FFFFFF"/>
                </a:solidFill>
                <a:latin typeface="Playfair Display"/>
              </a:rPr>
              <a:t>Amanda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C9A24B"/>
                </a:solidFill>
                <a:latin typeface="Lora"/>
              </a:rPr>
              <a:t>RECRIA, AGÊNCIA DE MARKETING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4267504" y="5349240"/>
            <a:ext cx="3657600" cy="9525"/>
          </a:xfrm>
          <a:prstGeom prst="rect">
            <a:avLst/>
          </a:prstGeom>
          <a:solidFill>
            <a:srgbClr val="2A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5321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00" b="0" i="0">
                <a:solidFill>
                  <a:srgbClr val="B0A89A"/>
                </a:solidFill>
                <a:latin typeface="Lora"/>
              </a:rPr>
              <a:t>www.agenciarecria.com.br   ·   @agencia.recria   ·   @amandarecria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